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9;p2"/>
          <p:cNvSpPr/>
          <p:nvPr/>
        </p:nvSpPr>
        <p:spPr>
          <a:xfrm>
            <a:off x="0" y="542520"/>
            <a:ext cx="9142200" cy="4056480"/>
          </a:xfrm>
          <a:prstGeom prst="rect">
            <a:avLst/>
          </a:prstGeom>
          <a:solidFill>
            <a:schemeClr val="dk1"/>
          </a:solidFill>
          <a:ln w="9525">
            <a:solidFill>
              <a:srgbClr val="2e32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Google Shape;10;p2"/>
          <p:cNvSpPr/>
          <p:nvPr/>
        </p:nvSpPr>
        <p:spPr>
          <a:xfrm>
            <a:off x="0" y="0"/>
            <a:ext cx="4570200" cy="591120"/>
          </a:xfrm>
          <a:prstGeom prst="rect">
            <a:avLst/>
          </a:prstGeom>
          <a:solidFill>
            <a:schemeClr val="dk1"/>
          </a:solidFill>
          <a:ln w="9525">
            <a:solidFill>
              <a:srgbClr val="2e32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" name="Google Shape;14;p2"/>
          <p:cNvSpPr/>
          <p:nvPr/>
        </p:nvSpPr>
        <p:spPr>
          <a:xfrm>
            <a:off x="710280" y="7459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Google Shape;15;p2"/>
          <p:cNvSpPr/>
          <p:nvPr/>
        </p:nvSpPr>
        <p:spPr>
          <a:xfrm>
            <a:off x="710280" y="10098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Google Shape;16;p2"/>
          <p:cNvSpPr/>
          <p:nvPr/>
        </p:nvSpPr>
        <p:spPr>
          <a:xfrm>
            <a:off x="710280" y="12733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Google Shape;17;p2"/>
          <p:cNvSpPr/>
          <p:nvPr/>
        </p:nvSpPr>
        <p:spPr>
          <a:xfrm>
            <a:off x="710280" y="15372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Google Shape;18;p2"/>
          <p:cNvSpPr/>
          <p:nvPr/>
        </p:nvSpPr>
        <p:spPr>
          <a:xfrm>
            <a:off x="710280" y="18007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Google Shape;19;p2"/>
          <p:cNvSpPr/>
          <p:nvPr/>
        </p:nvSpPr>
        <p:spPr>
          <a:xfrm>
            <a:off x="710280" y="20646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Google Shape;20;p2"/>
          <p:cNvSpPr/>
          <p:nvPr/>
        </p:nvSpPr>
        <p:spPr>
          <a:xfrm>
            <a:off x="710280" y="23281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Google Shape;21;p2"/>
          <p:cNvSpPr/>
          <p:nvPr/>
        </p:nvSpPr>
        <p:spPr>
          <a:xfrm>
            <a:off x="710280" y="25920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Google Shape;22;p2"/>
          <p:cNvSpPr/>
          <p:nvPr/>
        </p:nvSpPr>
        <p:spPr>
          <a:xfrm>
            <a:off x="710280" y="28555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Google Shape;23;p2"/>
          <p:cNvSpPr/>
          <p:nvPr/>
        </p:nvSpPr>
        <p:spPr>
          <a:xfrm>
            <a:off x="710280" y="31194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Google Shape;24;p2"/>
          <p:cNvSpPr/>
          <p:nvPr/>
        </p:nvSpPr>
        <p:spPr>
          <a:xfrm>
            <a:off x="710280" y="33829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Google Shape;25;p2"/>
          <p:cNvSpPr/>
          <p:nvPr/>
        </p:nvSpPr>
        <p:spPr>
          <a:xfrm>
            <a:off x="710280" y="36468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Google Shape;26;p2"/>
          <p:cNvSpPr/>
          <p:nvPr/>
        </p:nvSpPr>
        <p:spPr>
          <a:xfrm>
            <a:off x="710280" y="39103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Google Shape;27;p2"/>
          <p:cNvSpPr/>
          <p:nvPr/>
        </p:nvSpPr>
        <p:spPr>
          <a:xfrm>
            <a:off x="710280" y="41742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49;p4"/>
          <p:cNvSpPr/>
          <p:nvPr/>
        </p:nvSpPr>
        <p:spPr>
          <a:xfrm>
            <a:off x="0" y="542520"/>
            <a:ext cx="9142200" cy="405648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5" name="Google Shape;50;p4"/>
          <p:cNvSpPr/>
          <p:nvPr/>
        </p:nvSpPr>
        <p:spPr>
          <a:xfrm>
            <a:off x="4572000" y="0"/>
            <a:ext cx="4570200" cy="59112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6" name="Google Shape;53;p4"/>
          <p:cNvSpPr/>
          <p:nvPr/>
        </p:nvSpPr>
        <p:spPr>
          <a:xfrm>
            <a:off x="710280" y="7459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Google Shape;54;p4"/>
          <p:cNvSpPr/>
          <p:nvPr/>
        </p:nvSpPr>
        <p:spPr>
          <a:xfrm>
            <a:off x="710280" y="10098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Google Shape;55;p4"/>
          <p:cNvSpPr/>
          <p:nvPr/>
        </p:nvSpPr>
        <p:spPr>
          <a:xfrm>
            <a:off x="710280" y="12733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Google Shape;56;p4"/>
          <p:cNvSpPr/>
          <p:nvPr/>
        </p:nvSpPr>
        <p:spPr>
          <a:xfrm>
            <a:off x="710280" y="15372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Google Shape;57;p4"/>
          <p:cNvSpPr/>
          <p:nvPr/>
        </p:nvSpPr>
        <p:spPr>
          <a:xfrm>
            <a:off x="710280" y="18007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Google Shape;58;p4"/>
          <p:cNvSpPr/>
          <p:nvPr/>
        </p:nvSpPr>
        <p:spPr>
          <a:xfrm>
            <a:off x="710280" y="20646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Google Shape;59;p4"/>
          <p:cNvSpPr/>
          <p:nvPr/>
        </p:nvSpPr>
        <p:spPr>
          <a:xfrm>
            <a:off x="710280" y="23281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Google Shape;60;p4"/>
          <p:cNvSpPr/>
          <p:nvPr/>
        </p:nvSpPr>
        <p:spPr>
          <a:xfrm>
            <a:off x="710280" y="25920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Google Shape;61;p4"/>
          <p:cNvSpPr/>
          <p:nvPr/>
        </p:nvSpPr>
        <p:spPr>
          <a:xfrm>
            <a:off x="710280" y="28555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Google Shape;62;p4"/>
          <p:cNvSpPr/>
          <p:nvPr/>
        </p:nvSpPr>
        <p:spPr>
          <a:xfrm>
            <a:off x="710280" y="31194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Google Shape;63;p4"/>
          <p:cNvSpPr/>
          <p:nvPr/>
        </p:nvSpPr>
        <p:spPr>
          <a:xfrm>
            <a:off x="710280" y="33829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Google Shape;64;p4"/>
          <p:cNvSpPr/>
          <p:nvPr/>
        </p:nvSpPr>
        <p:spPr>
          <a:xfrm>
            <a:off x="710280" y="36468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Google Shape;65;p4"/>
          <p:cNvSpPr/>
          <p:nvPr/>
        </p:nvSpPr>
        <p:spPr>
          <a:xfrm>
            <a:off x="710280" y="391032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Google Shape;66;p4"/>
          <p:cNvSpPr/>
          <p:nvPr/>
        </p:nvSpPr>
        <p:spPr>
          <a:xfrm>
            <a:off x="710280" y="4174200"/>
            <a:ext cx="4273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22480" bIns="2224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707070"/>
                </a:solidFill>
                <a:latin typeface="Fira Code"/>
                <a:ea typeface="Fira Code"/>
              </a:rPr>
              <a:t>14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colab.research.google.com/drive/1Cet2goxOBsTt_v223l1--FsKR6PTlkSo" TargetMode="External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colab.research.google.com/drive/1V5yXf1dVNDTxw5jnxlmx65ha8VfuQbmv" TargetMode="External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colab.research.google.com/drive/1e1wZWc9mQKN3jKhUWL6HyJfitA5DMw3p" TargetMode="External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413360" y="1144080"/>
            <a:ext cx="5787000" cy="515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3000" spc="-1" strike="noStrike">
                <a:solidFill>
                  <a:schemeClr val="lt1"/>
                </a:solidFill>
                <a:latin typeface="Fira Code"/>
                <a:ea typeface="Fira Code"/>
              </a:rPr>
              <a:t>CUDA Programming</a:t>
            </a:r>
            <a:r>
              <a:rPr b="0" lang="en" sz="3000" spc="-1" strike="noStrike">
                <a:solidFill>
                  <a:schemeClr val="accent2"/>
                </a:solidFill>
                <a:latin typeface="Fira Code"/>
                <a:ea typeface="Fira Code"/>
              </a:rPr>
              <a:t> </a:t>
            </a:r>
            <a:r>
              <a:rPr b="0" lang="en" sz="3000" spc="-1" strike="noStrike">
                <a:solidFill>
                  <a:schemeClr val="accent3"/>
                </a:solidFill>
                <a:latin typeface="Fira Code"/>
                <a:ea typeface="Fira Code"/>
              </a:rPr>
              <a:t>{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ubTitle"/>
          </p:nvPr>
        </p:nvSpPr>
        <p:spPr>
          <a:xfrm>
            <a:off x="2230920" y="2765160"/>
            <a:ext cx="6201000" cy="4590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accent3"/>
                </a:solidFill>
                <a:latin typeface="Fira Code"/>
                <a:ea typeface="Fira Code"/>
              </a:rPr>
              <a:t>Dave Lockwood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Fira Code"/>
              </a:rPr>
              <a:t>#880704411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Fira Code"/>
              </a:rPr>
              <a:t>CS131 Discrete Mathematics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Fira Code"/>
              </a:rPr>
              <a:t>Fall 2025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subTitle"/>
          </p:nvPr>
        </p:nvSpPr>
        <p:spPr>
          <a:xfrm>
            <a:off x="1788840" y="1761840"/>
            <a:ext cx="5787000" cy="4590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And Discrete Mathematics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12" name="Google Shape;462;p27"/>
          <p:cNvGrpSpPr/>
          <p:nvPr/>
        </p:nvGrpSpPr>
        <p:grpSpPr>
          <a:xfrm>
            <a:off x="1413360" y="1759680"/>
            <a:ext cx="504360" cy="2437560"/>
            <a:chOff x="1413360" y="1759680"/>
            <a:chExt cx="504360" cy="2437560"/>
          </a:xfrm>
        </p:grpSpPr>
        <p:cxnSp>
          <p:nvCxnSpPr>
            <p:cNvPr id="113" name="Google Shape;463;p27"/>
            <p:cNvCxnSpPr/>
            <p:nvPr/>
          </p:nvCxnSpPr>
          <p:spPr>
            <a:xfrm>
              <a:off x="1551960" y="1759680"/>
              <a:ext cx="1800" cy="1765080"/>
            </a:xfrm>
            <a:prstGeom prst="straightConnector1">
              <a:avLst/>
            </a:prstGeom>
            <a:ln w="9525">
              <a:solidFill>
                <a:srgbClr val="707070"/>
              </a:solidFill>
              <a:round/>
            </a:ln>
          </p:spPr>
        </p:cxnSp>
        <p:sp>
          <p:nvSpPr>
            <p:cNvPr id="114" name="Google Shape;464;p27"/>
            <p:cNvSpPr/>
            <p:nvPr/>
          </p:nvSpPr>
          <p:spPr>
            <a:xfrm>
              <a:off x="1413360" y="3557880"/>
              <a:ext cx="504360" cy="63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0" lang="en" sz="3000" spc="-1" strike="noStrike">
                  <a:solidFill>
                    <a:schemeClr val="accent3"/>
                  </a:solidFill>
                  <a:latin typeface="Fira Code"/>
                  <a:ea typeface="Fira Code"/>
                </a:rPr>
                <a:t>}</a:t>
              </a:r>
              <a:endParaRPr b="0" lang="en-US" sz="3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15" name="PlaceHolder 5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Applicability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PlaceHolder 6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8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9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0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1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2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3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4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5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6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7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8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9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0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accent2"/>
                </a:solidFill>
                <a:latin typeface="Fira Code"/>
                <a:ea typeface="Fira Code"/>
              </a:rPr>
              <a:t>Graph Algorithms;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Graph processing is one of the biggest uses of GPU computing: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Breadth-First Search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- Each node's neighbors can be explored in parallel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Shortest path algorithms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- Dijkstra's, Bellman-Ford parallelized on GPUs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PageRank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- Google's algorithm runs efficiently on GPUs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Graph coloring, matching, clustering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- All benefit from parallel computation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- Social network analysis, recommendation systems, route finding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Graph problems are naturally parallel because you can process many nodes/edges simultaneously. This is exactly what GPUs excel at.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7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8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0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1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2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3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5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6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7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8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9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lt1"/>
                </a:solidFill>
                <a:latin typeface="Fira Code"/>
                <a:ea typeface="Fira Code"/>
              </a:rPr>
              <a:t>First Example</a:t>
            </a:r>
            <a:r>
              <a:rPr b="0" lang="en" sz="2800" spc="-1" strike="noStrike">
                <a:solidFill>
                  <a:schemeClr val="accent2"/>
                </a:solidFill>
                <a:latin typeface="Fira Code"/>
                <a:ea typeface="Fira Code"/>
              </a:rPr>
              <a:t>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                                                                 </a:t>
            </a:r>
            <a:r>
              <a:rPr b="0" lang="en" sz="1000" spc="-1" strike="noStrike" u="sng">
                <a:solidFill>
                  <a:schemeClr val="accent3"/>
                </a:solidFill>
                <a:highlight>
                  <a:srgbClr val="333333"/>
                </a:highlight>
                <a:uFillTx/>
                <a:latin typeface="Fira Code"/>
                <a:ea typeface="Fira Code"/>
                <a:hlinkClick r:id="rId1"/>
              </a:rPr>
              <a:t>Example Code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"hello world" example that does vector addition—adding two arrays of 1 million elements in parallel on the GPU. This is more useful than just printing text because it shows the complete CUDA workflow: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**Key concepts in this example:**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`__global__`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keyword marks a function as a GPU kernel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Memory management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`cudaMalloc()` for GPU, `malloc()` for CPU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Data transfer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`cudaMemcpy()` moves data between CPU and GPU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Kernel launch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`&lt;&lt;&lt;blocks, threads&gt;&gt;&gt;` syntax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Thread ID calculation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Each thread figures out which array element it handles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Synchronization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`cudaDeviceSynchronize()` waits for GPU to finish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=== Timing Breakdown ===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Host to Device transfer: 2.284 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Launching kernel with 3907 blocks of 256 threads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Kernel execution: 23.714 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Device to Host transfer: 0.994 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Total time for execution ~27ms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6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7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8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9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0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1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3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4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5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6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7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8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rgbClr val="81d41a"/>
                </a:solidFill>
                <a:latin typeface="Fira Code"/>
                <a:ea typeface="Fira Code"/>
              </a:rPr>
              <a:t>Combinatorial Optimization</a:t>
            </a:r>
            <a:r>
              <a:rPr b="0" lang="en" sz="2800" spc="-1" strike="noStrike">
                <a:solidFill>
                  <a:schemeClr val="accent2"/>
                </a:solidFill>
                <a:latin typeface="Fira Code"/>
                <a:ea typeface="Fira Code"/>
              </a:rPr>
              <a:t>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Many discrete optimization problems parallelize well: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Traveling Salesman Problem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Parallel branch and bound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Knapsack problems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Exploring solution space in parallel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SAT solvers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Boolean satisfiability solved faster on GPUs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Constraint satisfaction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Parallel search through possibilities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5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6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7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8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9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0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1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2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3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4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5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6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7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rgbClr val="ff3838"/>
                </a:solidFill>
                <a:latin typeface="Fira Code"/>
                <a:ea typeface="Fira Code"/>
              </a:rPr>
              <a:t>Algorithm Complexity Analysis</a:t>
            </a:r>
            <a:r>
              <a:rPr b="0" lang="en" sz="2800" spc="-1" strike="noStrike">
                <a:solidFill>
                  <a:schemeClr val="accent2"/>
                </a:solidFill>
                <a:latin typeface="Fira Code"/>
                <a:ea typeface="Fira Code"/>
              </a:rPr>
              <a:t>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Understanding Big-O notation helps you identify CUDA-suitable problems: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O(n²) or O(n³) algorithms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→ Great GPU candidates (matrix operations, all-pairs problems)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O(log n) with dependencies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→ Poor GPU candidates (binary search with sequential dependencies)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O(n) embarrassingly parallel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→ Perfect for GPU (element-wise operations)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Discrete math teaches you to analyze whether a problem has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inherent parallelism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vs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forced sequencing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4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5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6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7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8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9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0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1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2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3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4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5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6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rgbClr val="81d41a"/>
                </a:solidFill>
                <a:latin typeface="Fira Code"/>
                <a:ea typeface="Fira Code"/>
              </a:rPr>
              <a:t>Second Example</a:t>
            </a:r>
            <a:r>
              <a:rPr b="0" lang="en" sz="2800" spc="-1" strike="noStrike">
                <a:solidFill>
                  <a:schemeClr val="accent2"/>
                </a:solidFill>
                <a:latin typeface="Fira Code"/>
                <a:ea typeface="Fira Code"/>
              </a:rPr>
              <a:t>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Multiply two 2048x2048 matrices (over 8 million operations)                              </a:t>
            </a:r>
            <a:r>
              <a:rPr b="0" lang="en" sz="1000" spc="-1" strike="noStrike" u="sng">
                <a:solidFill>
                  <a:schemeClr val="accent3"/>
                </a:solidFill>
                <a:highlight>
                  <a:srgbClr val="333333"/>
                </a:highlight>
                <a:uFillTx/>
                <a:latin typeface="Fira Code"/>
                <a:ea typeface="Fira Code"/>
                <a:hlinkClick r:id="rId1"/>
              </a:rPr>
              <a:t>Example Code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CPU approach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Triple nested loop executing sequentially (O(n</a:t>
            </a:r>
            <a:r>
              <a:rPr b="0" lang="en" sz="1000" spc="-1" strike="noStrike" baseline="33000">
                <a:solidFill>
                  <a:schemeClr val="accent3"/>
                </a:solidFill>
                <a:latin typeface="Fira Code"/>
                <a:ea typeface="Fira Code"/>
              </a:rPr>
              <a:t>3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))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One element computed at a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Takes seconds to complete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GPU approach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Thousands of threads running in parallel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Each thread computes one output element simultaneously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Uses 2D grid and block organization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 Takes milliseconds to complete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Running on CPU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...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CPU Time: 95.640 seconds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Running on GPU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...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Grid: 128 x 128 blocks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Block: 16 x 16 threads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Total threads: 4194304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GPU Time: 0.075 seconds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Speedup: 1275.58x faster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3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4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5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6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7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8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9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0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1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2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3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4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5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lt1"/>
                </a:solidFill>
                <a:latin typeface="Fira Code"/>
                <a:ea typeface="Fira Code"/>
              </a:rPr>
              <a:t>Boolean Algebra and Bit Operations</a:t>
            </a:r>
            <a:r>
              <a:rPr b="0" lang="en" sz="2800" spc="-1" strike="noStrike">
                <a:solidFill>
                  <a:schemeClr val="accent2"/>
                </a:solidFill>
                <a:latin typeface="Fira Code"/>
                <a:ea typeface="Fira Code"/>
              </a:rPr>
              <a:t>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Bitwise parallel operations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GPUs can do billions of bit operations simultaneously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Boolean circuits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Simulating logic gates in parallel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Bit manipulation algorithms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Population count, finding set bits, etc.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2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3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4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5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6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7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8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9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0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1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2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3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4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rgbClr val="81d41a"/>
                </a:solidFill>
                <a:latin typeface="Fira Code"/>
                <a:ea typeface="Fira Code"/>
              </a:rPr>
              <a:t>Number Theory and Cryptography;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Prime number generation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Parallel sieving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Modular arithmetic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RSA encryption operations on GPUs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Hashing algorithms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Parallel hash computations (blockchain mining)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Random number generation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Parallel RNG for simulations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1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2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3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4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5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6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7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8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9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0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1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2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3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lt1"/>
                </a:solidFill>
                <a:latin typeface="Fira Code"/>
                <a:ea typeface="Fira Code"/>
              </a:rPr>
              <a:t>Probability and Monte Carlo Methods</a:t>
            </a:r>
            <a:r>
              <a:rPr b="0" lang="en" sz="2800" spc="-1" strike="noStrike">
                <a:solidFill>
                  <a:schemeClr val="accent2"/>
                </a:solidFill>
                <a:latin typeface="Fira Code"/>
                <a:ea typeface="Fira Code"/>
              </a:rPr>
              <a:t>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Simulations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Run millions of trials in parallel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Random walks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Parallel exploration of state spaces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Probabilistic algorithms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Each trial independent and parallel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0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1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2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3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4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5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6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7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8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9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0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1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2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rgbClr val="81d41a"/>
                </a:solidFill>
                <a:latin typeface="Fira Code"/>
                <a:ea typeface="Fira Code"/>
              </a:rPr>
              <a:t>Recurrence Relations;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Understanding which recurrences parallelize: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Independent recurrences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→ Good for GPU (Fibonacci across many starting points)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Dependent recurrences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→ Bad for GPU (computing single Fibonacci sequence)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9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0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1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2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3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4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5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6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7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8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9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0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1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lt1"/>
                </a:solidFill>
                <a:latin typeface="Fira Code"/>
                <a:ea typeface="Fira Code"/>
              </a:rPr>
              <a:t>Set Operations</a:t>
            </a:r>
            <a:r>
              <a:rPr b="0" lang="en" sz="2800" spc="-1" strike="noStrike">
                <a:solidFill>
                  <a:schemeClr val="accent2"/>
                </a:solidFill>
                <a:latin typeface="Fira Code"/>
                <a:ea typeface="Fira Code"/>
              </a:rPr>
              <a:t>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Working with large sets on GPUs: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Union, intersection, difference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Parallel set operations on millions of elements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Cardinality counting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Parallel reduction operations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Set membership testing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- Bloom filters on GPU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8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9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0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1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2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3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4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5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6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7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8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9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20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rgbClr val="81d41a"/>
                </a:solidFill>
                <a:latin typeface="Fira Code"/>
                <a:ea typeface="Fira Code"/>
              </a:rPr>
              <a:t>Real-World Example;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Consider shortest path in a graph with 1 million nodes: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Discrete Math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Teaches you Dijkstra's algorithm, graph representation, complexity O(V² or E log V)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Lets you explore thousands of nodes simultaneously instead of one at a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The combination makes previously intractable problems (huge graphs) solvable in seconds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27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28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29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0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1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2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3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4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5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6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7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8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9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lt1"/>
                </a:solidFill>
                <a:latin typeface="Fira Code"/>
                <a:ea typeface="Fira Code"/>
              </a:rPr>
              <a:t>Julia Set Example</a:t>
            </a:r>
            <a:r>
              <a:rPr b="0" lang="en" sz="2800" spc="-1" strike="noStrike">
                <a:solidFill>
                  <a:schemeClr val="accent2"/>
                </a:solidFill>
                <a:latin typeface="Fira Code"/>
                <a:ea typeface="Fira Code"/>
              </a:rPr>
              <a:t>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JULIA SET: CPU vs GPU Performance                            </a:t>
            </a:r>
            <a:r>
              <a:rPr b="0" lang="en" sz="1000" spc="-1" strike="noStrike" u="sng">
                <a:solidFill>
                  <a:schemeClr val="accent3"/>
                </a:solidFill>
                <a:highlight>
                  <a:srgbClr val="333333"/>
                </a:highlight>
                <a:uFillTx/>
                <a:latin typeface="Fira Code"/>
                <a:ea typeface="Fira Code"/>
                <a:hlinkClick r:id="rId1"/>
              </a:rPr>
              <a:t>Example Code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Resolution: 1920x1080 (2 megapixels) 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CPU Rendering: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------------------------------------------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Average CPU time per frame: 1.135 seconds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CPU FPS: 0.88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GPU Rendering: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------------------------------------------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Grid: 120x68 blocks, Block: 16x16 threads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Total GPU threads: 2088960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Average GPU time per frame: 0.016 seconds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GPU FPS: 61.75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PERFORMANCE SUMMARY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===========================================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Average CPU time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1.135 seconds (0.88 FPS)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Average GPU time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0.016 seconds (61.75 FPS)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Speedup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: 70x faster on GPU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46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47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48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49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0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1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2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3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4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5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6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7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8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1c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rgbClr val="81d41a"/>
                </a:solidFill>
                <a:latin typeface="Fira Code"/>
                <a:ea typeface="Fira Code"/>
              </a:rPr>
              <a:t>The Bottom Line;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Discrete Math helps you recognize which problems are parallelizable and design parallel algorithms.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gives you the tool to execute those parallel algorithms at massive scale.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They're complementary: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Discrete Math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→ Understand the problem structure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→ Exploit that structure with parallel hardware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For CS students, discrete math provides the theoretical foundation to understand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why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certain problems benefit from GPU acceleration and </a:t>
            </a:r>
            <a:r>
              <a:rPr b="1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how</a:t>
            </a:r>
            <a:r>
              <a:rPr b="0" lang="en" sz="1000" spc="-1" strike="noStrike">
                <a:solidFill>
                  <a:schemeClr val="accent3"/>
                </a:solidFill>
                <a:latin typeface="Fira Code"/>
                <a:ea typeface="Fira Code"/>
              </a:rPr>
              <a:t> to design algorithms that leverage thousands of parallel threads effectively.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65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66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67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68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69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0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1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2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3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4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5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6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7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1143360" y="582840"/>
            <a:ext cx="728892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rgbClr val="81d41a"/>
                </a:solidFill>
                <a:latin typeface="Fira Code"/>
                <a:ea typeface="Fira Code"/>
              </a:rPr>
              <a:t>Created By;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1464120" y="1063080"/>
            <a:ext cx="6967800" cy="3414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accent3"/>
                </a:solidFill>
                <a:latin typeface="Fira Code"/>
                <a:ea typeface="Fira Code"/>
              </a:rPr>
              <a:t>Dave Lockwood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3"/>
                </a:solidFill>
                <a:latin typeface="Arial"/>
                <a:ea typeface="Fira Code"/>
              </a:rPr>
              <a:t>#880704411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3"/>
                </a:solidFill>
                <a:latin typeface="Arial"/>
                <a:ea typeface="Fira Code"/>
              </a:rPr>
              <a:t>CS131 Discrete Mathematics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3"/>
                </a:solidFill>
                <a:latin typeface="Arial"/>
                <a:ea typeface="Fira Code"/>
              </a:rPr>
              <a:t>Fall 2025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ubTitle"/>
          </p:nvPr>
        </p:nvSpPr>
        <p:spPr>
          <a:xfrm>
            <a:off x="710280" y="4694760"/>
            <a:ext cx="486324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subTitle"/>
          </p:nvPr>
        </p:nvSpPr>
        <p:spPr>
          <a:xfrm>
            <a:off x="-612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CUDA and Discrete Mathematics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PlaceHolder 5"/>
          <p:cNvSpPr>
            <a:spLocks noGrp="1"/>
          </p:cNvSpPr>
          <p:nvPr>
            <p:ph type="subTitle"/>
          </p:nvPr>
        </p:nvSpPr>
        <p:spPr>
          <a:xfrm>
            <a:off x="4572000" y="91440"/>
            <a:ext cx="457020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chemeClr val="accent3"/>
                </a:solidFill>
                <a:latin typeface="Fira Code"/>
                <a:ea typeface="Fira Code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182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84" name=""/>
          <p:cNvSpPr/>
          <p:nvPr/>
        </p:nvSpPr>
        <p:spPr>
          <a:xfrm>
            <a:off x="204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85" name=""/>
          <p:cNvSpPr/>
          <p:nvPr/>
        </p:nvSpPr>
        <p:spPr>
          <a:xfrm>
            <a:off x="226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86" name=""/>
          <p:cNvSpPr/>
          <p:nvPr/>
        </p:nvSpPr>
        <p:spPr>
          <a:xfrm>
            <a:off x="247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87" name=""/>
          <p:cNvSpPr/>
          <p:nvPr/>
        </p:nvSpPr>
        <p:spPr>
          <a:xfrm>
            <a:off x="269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88" name=""/>
          <p:cNvSpPr/>
          <p:nvPr/>
        </p:nvSpPr>
        <p:spPr>
          <a:xfrm>
            <a:off x="290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89" name=""/>
          <p:cNvSpPr/>
          <p:nvPr/>
        </p:nvSpPr>
        <p:spPr>
          <a:xfrm>
            <a:off x="312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0" name=""/>
          <p:cNvSpPr/>
          <p:nvPr/>
        </p:nvSpPr>
        <p:spPr>
          <a:xfrm>
            <a:off x="334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1" name=""/>
          <p:cNvSpPr/>
          <p:nvPr/>
        </p:nvSpPr>
        <p:spPr>
          <a:xfrm>
            <a:off x="355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2" name=""/>
          <p:cNvSpPr/>
          <p:nvPr/>
        </p:nvSpPr>
        <p:spPr>
          <a:xfrm>
            <a:off x="3772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3" name=""/>
          <p:cNvSpPr/>
          <p:nvPr/>
        </p:nvSpPr>
        <p:spPr>
          <a:xfrm>
            <a:off x="3988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4" name=""/>
          <p:cNvSpPr/>
          <p:nvPr/>
        </p:nvSpPr>
        <p:spPr>
          <a:xfrm>
            <a:off x="4204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5" name=""/>
          <p:cNvSpPr/>
          <p:nvPr/>
        </p:nvSpPr>
        <p:spPr>
          <a:xfrm>
            <a:off x="4420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6" name=""/>
          <p:cNvSpPr/>
          <p:nvPr/>
        </p:nvSpPr>
        <p:spPr>
          <a:xfrm>
            <a:off x="4636800" y="4800600"/>
            <a:ext cx="227520" cy="249840"/>
          </a:xfrm>
          <a:custGeom>
            <a:avLst/>
            <a:gdLst>
              <a:gd name="textAreaLeft" fmla="*/ 0 w 227520"/>
              <a:gd name="textAreaRight" fmla="*/ 228960 w 227520"/>
              <a:gd name="textAreaTop" fmla="*/ 0 h 249840"/>
              <a:gd name="textAreaBottom" fmla="*/ 251280 h 2498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0" y="21600"/>
                </a:lnTo>
                <a:lnTo>
                  <a:pt x="5400" y="10800"/>
                </a:lnTo>
                <a:close/>
              </a:path>
            </a:pathLst>
          </a:custGeom>
          <a:solidFill>
            <a:srgbClr val="333333"/>
          </a:solidFill>
          <a:ln w="126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Application>LibreOffice/7.4.3.2$Windows_X86_64 LibreOffice_project/1048a8393ae2eeec98dff31b5c133c5f1d08b890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2025-12-01T17:47:52Z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