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9;p2"/>
          <p:cNvSpPr/>
          <p:nvPr/>
        </p:nvSpPr>
        <p:spPr>
          <a:xfrm>
            <a:off x="0" y="542520"/>
            <a:ext cx="9142920" cy="4057200"/>
          </a:xfrm>
          <a:prstGeom prst="rect">
            <a:avLst/>
          </a:prstGeom>
          <a:solidFill>
            <a:schemeClr val="dk1"/>
          </a:solidFill>
          <a:ln w="9525">
            <a:solidFill>
              <a:srgbClr val="2e32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Google Shape;10;p2"/>
          <p:cNvSpPr/>
          <p:nvPr/>
        </p:nvSpPr>
        <p:spPr>
          <a:xfrm>
            <a:off x="0" y="0"/>
            <a:ext cx="4570920" cy="591840"/>
          </a:xfrm>
          <a:prstGeom prst="rect">
            <a:avLst/>
          </a:prstGeom>
          <a:solidFill>
            <a:schemeClr val="dk1"/>
          </a:solidFill>
          <a:ln w="9525">
            <a:solidFill>
              <a:srgbClr val="2e32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" name="Google Shape;14;p2"/>
          <p:cNvSpPr/>
          <p:nvPr/>
        </p:nvSpPr>
        <p:spPr>
          <a:xfrm>
            <a:off x="710280" y="74592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Google Shape;15;p2"/>
          <p:cNvSpPr/>
          <p:nvPr/>
        </p:nvSpPr>
        <p:spPr>
          <a:xfrm>
            <a:off x="710280" y="100980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Google Shape;16;p2"/>
          <p:cNvSpPr/>
          <p:nvPr/>
        </p:nvSpPr>
        <p:spPr>
          <a:xfrm>
            <a:off x="710280" y="127332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Google Shape;17;p2"/>
          <p:cNvSpPr/>
          <p:nvPr/>
        </p:nvSpPr>
        <p:spPr>
          <a:xfrm>
            <a:off x="710280" y="153720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Google Shape;18;p2"/>
          <p:cNvSpPr/>
          <p:nvPr/>
        </p:nvSpPr>
        <p:spPr>
          <a:xfrm>
            <a:off x="710280" y="180072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Google Shape;19;p2"/>
          <p:cNvSpPr/>
          <p:nvPr/>
        </p:nvSpPr>
        <p:spPr>
          <a:xfrm>
            <a:off x="710280" y="206460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Google Shape;20;p2"/>
          <p:cNvSpPr/>
          <p:nvPr/>
        </p:nvSpPr>
        <p:spPr>
          <a:xfrm>
            <a:off x="710280" y="232812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Google Shape;21;p2"/>
          <p:cNvSpPr/>
          <p:nvPr/>
        </p:nvSpPr>
        <p:spPr>
          <a:xfrm>
            <a:off x="710280" y="259200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Google Shape;22;p2"/>
          <p:cNvSpPr/>
          <p:nvPr/>
        </p:nvSpPr>
        <p:spPr>
          <a:xfrm>
            <a:off x="710280" y="285552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Google Shape;23;p2"/>
          <p:cNvSpPr/>
          <p:nvPr/>
        </p:nvSpPr>
        <p:spPr>
          <a:xfrm>
            <a:off x="710280" y="311940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10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Google Shape;24;p2"/>
          <p:cNvSpPr/>
          <p:nvPr/>
        </p:nvSpPr>
        <p:spPr>
          <a:xfrm>
            <a:off x="710280" y="338292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11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Google Shape;25;p2"/>
          <p:cNvSpPr/>
          <p:nvPr/>
        </p:nvSpPr>
        <p:spPr>
          <a:xfrm>
            <a:off x="710280" y="364680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12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Google Shape;26;p2"/>
          <p:cNvSpPr/>
          <p:nvPr/>
        </p:nvSpPr>
        <p:spPr>
          <a:xfrm>
            <a:off x="710280" y="391032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13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Google Shape;27;p2"/>
          <p:cNvSpPr/>
          <p:nvPr/>
        </p:nvSpPr>
        <p:spPr>
          <a:xfrm>
            <a:off x="710280" y="417420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14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49;p4"/>
          <p:cNvSpPr/>
          <p:nvPr/>
        </p:nvSpPr>
        <p:spPr>
          <a:xfrm>
            <a:off x="0" y="542520"/>
            <a:ext cx="9142920" cy="405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5" name="Google Shape;50;p4"/>
          <p:cNvSpPr/>
          <p:nvPr/>
        </p:nvSpPr>
        <p:spPr>
          <a:xfrm>
            <a:off x="4572000" y="0"/>
            <a:ext cx="4570920" cy="59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6" name="Google Shape;53;p4"/>
          <p:cNvSpPr/>
          <p:nvPr/>
        </p:nvSpPr>
        <p:spPr>
          <a:xfrm>
            <a:off x="710280" y="74592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Google Shape;54;p4"/>
          <p:cNvSpPr/>
          <p:nvPr/>
        </p:nvSpPr>
        <p:spPr>
          <a:xfrm>
            <a:off x="710280" y="100980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Google Shape;55;p4"/>
          <p:cNvSpPr/>
          <p:nvPr/>
        </p:nvSpPr>
        <p:spPr>
          <a:xfrm>
            <a:off x="710280" y="127332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Google Shape;56;p4"/>
          <p:cNvSpPr/>
          <p:nvPr/>
        </p:nvSpPr>
        <p:spPr>
          <a:xfrm>
            <a:off x="710280" y="153720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Google Shape;57;p4"/>
          <p:cNvSpPr/>
          <p:nvPr/>
        </p:nvSpPr>
        <p:spPr>
          <a:xfrm>
            <a:off x="710280" y="180072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Google Shape;58;p4"/>
          <p:cNvSpPr/>
          <p:nvPr/>
        </p:nvSpPr>
        <p:spPr>
          <a:xfrm>
            <a:off x="710280" y="206460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Google Shape;59;p4"/>
          <p:cNvSpPr/>
          <p:nvPr/>
        </p:nvSpPr>
        <p:spPr>
          <a:xfrm>
            <a:off x="710280" y="232812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Google Shape;60;p4"/>
          <p:cNvSpPr/>
          <p:nvPr/>
        </p:nvSpPr>
        <p:spPr>
          <a:xfrm>
            <a:off x="710280" y="259200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Google Shape;61;p4"/>
          <p:cNvSpPr/>
          <p:nvPr/>
        </p:nvSpPr>
        <p:spPr>
          <a:xfrm>
            <a:off x="710280" y="285552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Google Shape;62;p4"/>
          <p:cNvSpPr/>
          <p:nvPr/>
        </p:nvSpPr>
        <p:spPr>
          <a:xfrm>
            <a:off x="710280" y="311940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10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Google Shape;63;p4"/>
          <p:cNvSpPr/>
          <p:nvPr/>
        </p:nvSpPr>
        <p:spPr>
          <a:xfrm>
            <a:off x="710280" y="338292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11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Google Shape;64;p4"/>
          <p:cNvSpPr/>
          <p:nvPr/>
        </p:nvSpPr>
        <p:spPr>
          <a:xfrm>
            <a:off x="710280" y="364680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12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Google Shape;65;p4"/>
          <p:cNvSpPr/>
          <p:nvPr/>
        </p:nvSpPr>
        <p:spPr>
          <a:xfrm>
            <a:off x="710280" y="391032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13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66;p4"/>
          <p:cNvSpPr/>
          <p:nvPr/>
        </p:nvSpPr>
        <p:spPr>
          <a:xfrm>
            <a:off x="710280" y="4174200"/>
            <a:ext cx="428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3200" bIns="223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07070"/>
                </a:solidFill>
                <a:latin typeface="Fira Code"/>
                <a:ea typeface="Fira Code"/>
              </a:rPr>
              <a:t>14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81d41a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colab.research.google.com/drive/1Cet2goxOBsTt_v223l1--FsKR6PTlkSo" TargetMode="External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colab.research.google.com/drive/1V5yXf1dVNDTxw5jnxlmx65ha8VfuQbmv" TargetMode="External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colab.research.google.com/drive/1e1wZWc9mQKN3jKhUWL6HyJfitA5DMw3p" TargetMode="External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413360" y="1144080"/>
            <a:ext cx="5787720" cy="516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chemeClr val="lt1"/>
                </a:solidFill>
                <a:latin typeface="Fira Code"/>
                <a:ea typeface="Fira Code"/>
              </a:rPr>
              <a:t>CUDA Programming</a:t>
            </a:r>
            <a:r>
              <a:rPr b="0" lang="en" sz="3000" spc="-1" strike="noStrike">
                <a:solidFill>
                  <a:schemeClr val="accent2"/>
                </a:solidFill>
                <a:latin typeface="Fira Code"/>
                <a:ea typeface="Fira Code"/>
              </a:rPr>
              <a:t> </a:t>
            </a:r>
            <a:r>
              <a:rPr b="0" lang="en" sz="3000" spc="-1" strike="noStrike">
                <a:solidFill>
                  <a:schemeClr val="accent3"/>
                </a:solidFill>
                <a:latin typeface="Fira Code"/>
                <a:ea typeface="Fira Code"/>
              </a:rPr>
              <a:t>{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2230920" y="2765160"/>
            <a:ext cx="6201720" cy="459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chemeClr val="accent3"/>
                </a:solidFill>
                <a:latin typeface="Fira Code"/>
                <a:ea typeface="Fira Code"/>
              </a:rPr>
              <a:t>	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ubTitle"/>
          </p:nvPr>
        </p:nvSpPr>
        <p:spPr>
          <a:xfrm>
            <a:off x="710280" y="4694760"/>
            <a:ext cx="4863960" cy="356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subTitle"/>
          </p:nvPr>
        </p:nvSpPr>
        <p:spPr>
          <a:xfrm>
            <a:off x="1788840" y="1761840"/>
            <a:ext cx="5787720" cy="459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And Discrete Mathematics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12" name="Google Shape;462;p27"/>
          <p:cNvGrpSpPr/>
          <p:nvPr/>
        </p:nvGrpSpPr>
        <p:grpSpPr>
          <a:xfrm>
            <a:off x="1413360" y="1759680"/>
            <a:ext cx="505080" cy="2437560"/>
            <a:chOff x="1413360" y="1759680"/>
            <a:chExt cx="505080" cy="2437560"/>
          </a:xfrm>
        </p:grpSpPr>
        <p:cxnSp>
          <p:nvCxnSpPr>
            <p:cNvPr id="113" name="Google Shape;463;p27"/>
            <p:cNvCxnSpPr/>
            <p:nvPr/>
          </p:nvCxnSpPr>
          <p:spPr>
            <a:xfrm>
              <a:off x="1551960" y="1759680"/>
              <a:ext cx="1080" cy="1764360"/>
            </a:xfrm>
            <a:prstGeom prst="straightConnector1">
              <a:avLst/>
            </a:prstGeom>
            <a:ln w="9525">
              <a:solidFill>
                <a:srgbClr val="707070"/>
              </a:solidFill>
              <a:round/>
            </a:ln>
          </p:spPr>
        </p:cxnSp>
        <p:sp>
          <p:nvSpPr>
            <p:cNvPr id="114" name="Google Shape;464;p27"/>
            <p:cNvSpPr/>
            <p:nvPr/>
          </p:nvSpPr>
          <p:spPr>
            <a:xfrm>
              <a:off x="1413360" y="3557880"/>
              <a:ext cx="505080" cy="63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3000" spc="-1" strike="noStrike">
                  <a:solidFill>
                    <a:schemeClr val="accent3"/>
                  </a:solidFill>
                  <a:latin typeface="Fira Code"/>
                  <a:ea typeface="Fira Code"/>
                </a:rPr>
                <a:t>}</a:t>
              </a:r>
              <a:endParaRPr b="0" lang="en-US" sz="3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5" name="PlaceHolder 5"/>
          <p:cNvSpPr>
            <a:spLocks noGrp="1"/>
          </p:cNvSpPr>
          <p:nvPr>
            <p:ph type="subTitle"/>
          </p:nvPr>
        </p:nvSpPr>
        <p:spPr>
          <a:xfrm>
            <a:off x="-612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 </a:t>
            </a: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Applicability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 type="subTitle"/>
          </p:nvPr>
        </p:nvSpPr>
        <p:spPr>
          <a:xfrm>
            <a:off x="457200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 and Discrete Mathematics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82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8" name=""/>
          <p:cNvSpPr/>
          <p:nvPr/>
        </p:nvSpPr>
        <p:spPr>
          <a:xfrm>
            <a:off x="204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9" name=""/>
          <p:cNvSpPr/>
          <p:nvPr/>
        </p:nvSpPr>
        <p:spPr>
          <a:xfrm>
            <a:off x="226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0" name=""/>
          <p:cNvSpPr/>
          <p:nvPr/>
        </p:nvSpPr>
        <p:spPr>
          <a:xfrm>
            <a:off x="247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1" name=""/>
          <p:cNvSpPr/>
          <p:nvPr/>
        </p:nvSpPr>
        <p:spPr>
          <a:xfrm>
            <a:off x="269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2" name=""/>
          <p:cNvSpPr/>
          <p:nvPr/>
        </p:nvSpPr>
        <p:spPr>
          <a:xfrm>
            <a:off x="290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3" name=""/>
          <p:cNvSpPr/>
          <p:nvPr/>
        </p:nvSpPr>
        <p:spPr>
          <a:xfrm>
            <a:off x="312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4" name=""/>
          <p:cNvSpPr/>
          <p:nvPr/>
        </p:nvSpPr>
        <p:spPr>
          <a:xfrm>
            <a:off x="334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5" name=""/>
          <p:cNvSpPr/>
          <p:nvPr/>
        </p:nvSpPr>
        <p:spPr>
          <a:xfrm>
            <a:off x="355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6" name=""/>
          <p:cNvSpPr/>
          <p:nvPr/>
        </p:nvSpPr>
        <p:spPr>
          <a:xfrm>
            <a:off x="377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7" name=""/>
          <p:cNvSpPr/>
          <p:nvPr/>
        </p:nvSpPr>
        <p:spPr>
          <a:xfrm>
            <a:off x="398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8" name=""/>
          <p:cNvSpPr/>
          <p:nvPr/>
        </p:nvSpPr>
        <p:spPr>
          <a:xfrm>
            <a:off x="420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9" name=""/>
          <p:cNvSpPr/>
          <p:nvPr/>
        </p:nvSpPr>
        <p:spPr>
          <a:xfrm>
            <a:off x="442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0" name=""/>
          <p:cNvSpPr/>
          <p:nvPr/>
        </p:nvSpPr>
        <p:spPr>
          <a:xfrm>
            <a:off x="463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143360" y="582840"/>
            <a:ext cx="728964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accent2"/>
                </a:solidFill>
                <a:latin typeface="Fira Code"/>
                <a:ea typeface="Fira Code"/>
              </a:rPr>
              <a:t>Graph Algorithms;</a:t>
            </a:r>
            <a:endParaRPr b="0" lang="en-US" sz="28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1464120" y="1063080"/>
            <a:ext cx="69685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Graph processing is one of the biggest uses of GPU computing: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Breadth-First Search</a:t>
            </a: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 - Each node's neighbors can be explored in parallel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Shortest path algorithms</a:t>
            </a: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 - Dijkstra's, Bellman-Ford parallelized on GPUs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PageRank</a:t>
            </a: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 - Google's algorithm runs efficiently on GPUs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Graph coloring, matching, clustering</a:t>
            </a: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 - All benefit from parallel computation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- Social network analysis, recommendation systems, route finding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Graph problems are naturally parallel because you can process many nodes/edges simultaneously. This is exactly what GPUs excel at.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ubTitle"/>
          </p:nvPr>
        </p:nvSpPr>
        <p:spPr>
          <a:xfrm>
            <a:off x="710280" y="4694760"/>
            <a:ext cx="486396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subTitle"/>
          </p:nvPr>
        </p:nvSpPr>
        <p:spPr>
          <a:xfrm>
            <a:off x="-612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 and Discrete Mathematics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subTitle"/>
          </p:nvPr>
        </p:nvSpPr>
        <p:spPr>
          <a:xfrm>
            <a:off x="457200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182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7" name=""/>
          <p:cNvSpPr/>
          <p:nvPr/>
        </p:nvSpPr>
        <p:spPr>
          <a:xfrm>
            <a:off x="204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" name=""/>
          <p:cNvSpPr/>
          <p:nvPr/>
        </p:nvSpPr>
        <p:spPr>
          <a:xfrm>
            <a:off x="226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9" name=""/>
          <p:cNvSpPr/>
          <p:nvPr/>
        </p:nvSpPr>
        <p:spPr>
          <a:xfrm>
            <a:off x="247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0" name=""/>
          <p:cNvSpPr/>
          <p:nvPr/>
        </p:nvSpPr>
        <p:spPr>
          <a:xfrm>
            <a:off x="269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1" name=""/>
          <p:cNvSpPr/>
          <p:nvPr/>
        </p:nvSpPr>
        <p:spPr>
          <a:xfrm>
            <a:off x="290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2" name=""/>
          <p:cNvSpPr/>
          <p:nvPr/>
        </p:nvSpPr>
        <p:spPr>
          <a:xfrm>
            <a:off x="312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3" name=""/>
          <p:cNvSpPr/>
          <p:nvPr/>
        </p:nvSpPr>
        <p:spPr>
          <a:xfrm>
            <a:off x="334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4" name=""/>
          <p:cNvSpPr/>
          <p:nvPr/>
        </p:nvSpPr>
        <p:spPr>
          <a:xfrm>
            <a:off x="355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5" name=""/>
          <p:cNvSpPr/>
          <p:nvPr/>
        </p:nvSpPr>
        <p:spPr>
          <a:xfrm>
            <a:off x="377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6" name=""/>
          <p:cNvSpPr/>
          <p:nvPr/>
        </p:nvSpPr>
        <p:spPr>
          <a:xfrm>
            <a:off x="398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7" name=""/>
          <p:cNvSpPr/>
          <p:nvPr/>
        </p:nvSpPr>
        <p:spPr>
          <a:xfrm>
            <a:off x="420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8" name=""/>
          <p:cNvSpPr/>
          <p:nvPr/>
        </p:nvSpPr>
        <p:spPr>
          <a:xfrm>
            <a:off x="442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" name=""/>
          <p:cNvSpPr/>
          <p:nvPr/>
        </p:nvSpPr>
        <p:spPr>
          <a:xfrm>
            <a:off x="463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143360" y="582840"/>
            <a:ext cx="728964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lt1"/>
                </a:solidFill>
                <a:latin typeface="Fira Code"/>
                <a:ea typeface="Fira Code"/>
              </a:rPr>
              <a:t>First Example</a:t>
            </a:r>
            <a:r>
              <a:rPr b="0" lang="en" sz="2800" spc="-1" strike="noStrike">
                <a:solidFill>
                  <a:schemeClr val="accent2"/>
                </a:solidFill>
                <a:latin typeface="Fira Code"/>
                <a:ea typeface="Fira Code"/>
              </a:rPr>
              <a:t>;</a:t>
            </a:r>
            <a:endParaRPr b="0" lang="en-US" sz="28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1464120" y="1063080"/>
            <a:ext cx="69685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                                                                  </a:t>
            </a:r>
            <a:r>
              <a:rPr b="0" lang="en" sz="1000" spc="-1" strike="noStrike" u="sng">
                <a:solidFill>
                  <a:schemeClr val="accent3"/>
                </a:solidFill>
                <a:highlight>
                  <a:srgbClr val="333333"/>
                </a:highlight>
                <a:uFillTx/>
                <a:latin typeface="Fira Code"/>
                <a:ea typeface="Fira Code"/>
                <a:hlinkClick r:id="rId1"/>
              </a:rPr>
              <a:t>Example Code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CUDA "hello world" example that does vector addition—adding two arrays of 1 million elements in parallel on the GPU. This is more useful than just printing text because it shows the complete CUDA workflow: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**Key concepts in this example:**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 </a:t>
            </a: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`__global__`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keyword marks a function as a GPU kernel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 </a:t>
            </a: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Memory management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: `cudaMalloc()` for GPU, `malloc()` for CPU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 </a:t>
            </a: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Data transfer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: `cudaMemcpy()` moves data between CPU and GPU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 </a:t>
            </a: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Kernel launch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: `&lt;&lt;&lt;blocks, threads&gt;&gt;&gt;` syntax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 </a:t>
            </a: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Thread ID calculation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: Each thread figures out which array element it handles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 </a:t>
            </a: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Synchronization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: `cudaDeviceSynchronize()` waits for GPU to finish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=== Timing Breakdown ===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Host to Device transfer: 2.284 ms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Launching kernel with 3907 blocks of 256 threads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Kernel execution: 23.714 ms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Device to Host transfer: 0.994 ms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Total time for execution ~27ms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ubTitle"/>
          </p:nvPr>
        </p:nvSpPr>
        <p:spPr>
          <a:xfrm>
            <a:off x="710280" y="4694760"/>
            <a:ext cx="486396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subTitle"/>
          </p:nvPr>
        </p:nvSpPr>
        <p:spPr>
          <a:xfrm>
            <a:off x="-612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 and Discrete Mathematics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subTitle"/>
          </p:nvPr>
        </p:nvSpPr>
        <p:spPr>
          <a:xfrm>
            <a:off x="457200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182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6" name=""/>
          <p:cNvSpPr/>
          <p:nvPr/>
        </p:nvSpPr>
        <p:spPr>
          <a:xfrm>
            <a:off x="204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7" name=""/>
          <p:cNvSpPr/>
          <p:nvPr/>
        </p:nvSpPr>
        <p:spPr>
          <a:xfrm>
            <a:off x="226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8" name=""/>
          <p:cNvSpPr/>
          <p:nvPr/>
        </p:nvSpPr>
        <p:spPr>
          <a:xfrm>
            <a:off x="247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9" name=""/>
          <p:cNvSpPr/>
          <p:nvPr/>
        </p:nvSpPr>
        <p:spPr>
          <a:xfrm>
            <a:off x="269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0" name=""/>
          <p:cNvSpPr/>
          <p:nvPr/>
        </p:nvSpPr>
        <p:spPr>
          <a:xfrm>
            <a:off x="290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1" name=""/>
          <p:cNvSpPr/>
          <p:nvPr/>
        </p:nvSpPr>
        <p:spPr>
          <a:xfrm>
            <a:off x="312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2" name=""/>
          <p:cNvSpPr/>
          <p:nvPr/>
        </p:nvSpPr>
        <p:spPr>
          <a:xfrm>
            <a:off x="334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3" name=""/>
          <p:cNvSpPr/>
          <p:nvPr/>
        </p:nvSpPr>
        <p:spPr>
          <a:xfrm>
            <a:off x="355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4" name=""/>
          <p:cNvSpPr/>
          <p:nvPr/>
        </p:nvSpPr>
        <p:spPr>
          <a:xfrm>
            <a:off x="377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" name=""/>
          <p:cNvSpPr/>
          <p:nvPr/>
        </p:nvSpPr>
        <p:spPr>
          <a:xfrm>
            <a:off x="398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" name=""/>
          <p:cNvSpPr/>
          <p:nvPr/>
        </p:nvSpPr>
        <p:spPr>
          <a:xfrm>
            <a:off x="420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7" name=""/>
          <p:cNvSpPr/>
          <p:nvPr/>
        </p:nvSpPr>
        <p:spPr>
          <a:xfrm>
            <a:off x="442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8" name=""/>
          <p:cNvSpPr/>
          <p:nvPr/>
        </p:nvSpPr>
        <p:spPr>
          <a:xfrm>
            <a:off x="463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143360" y="582840"/>
            <a:ext cx="728964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81d41a"/>
                </a:solidFill>
                <a:latin typeface="Fira Code"/>
                <a:ea typeface="Fira Code"/>
              </a:rPr>
              <a:t>Combinatorial Optimization</a:t>
            </a:r>
            <a:r>
              <a:rPr b="0" lang="en" sz="2800" spc="-1" strike="noStrike">
                <a:solidFill>
                  <a:schemeClr val="accent2"/>
                </a:solidFill>
                <a:latin typeface="Fira Code"/>
                <a:ea typeface="Fira Code"/>
              </a:rPr>
              <a:t>;</a:t>
            </a:r>
            <a:endParaRPr b="0" lang="en-US" sz="28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1464120" y="1063080"/>
            <a:ext cx="69685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Many discrete optimization problems parallelize well: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 </a:t>
            </a: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Traveling Salesman Problem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- Parallel branch and bound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 </a:t>
            </a: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Knapsack problems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- Exploring solution space in parallel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 </a:t>
            </a: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SAT solvers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- Boolean satisfiability solved faster on GPUs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 </a:t>
            </a: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Constraint satisfaction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- Parallel search through possibilities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ubTitle"/>
          </p:nvPr>
        </p:nvSpPr>
        <p:spPr>
          <a:xfrm>
            <a:off x="710280" y="4694760"/>
            <a:ext cx="486396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subTitle"/>
          </p:nvPr>
        </p:nvSpPr>
        <p:spPr>
          <a:xfrm>
            <a:off x="-612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 and Discrete Mathematics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subTitle"/>
          </p:nvPr>
        </p:nvSpPr>
        <p:spPr>
          <a:xfrm>
            <a:off x="457200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182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5" name=""/>
          <p:cNvSpPr/>
          <p:nvPr/>
        </p:nvSpPr>
        <p:spPr>
          <a:xfrm>
            <a:off x="204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6" name=""/>
          <p:cNvSpPr/>
          <p:nvPr/>
        </p:nvSpPr>
        <p:spPr>
          <a:xfrm>
            <a:off x="226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7" name=""/>
          <p:cNvSpPr/>
          <p:nvPr/>
        </p:nvSpPr>
        <p:spPr>
          <a:xfrm>
            <a:off x="247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8" name=""/>
          <p:cNvSpPr/>
          <p:nvPr/>
        </p:nvSpPr>
        <p:spPr>
          <a:xfrm>
            <a:off x="269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9" name=""/>
          <p:cNvSpPr/>
          <p:nvPr/>
        </p:nvSpPr>
        <p:spPr>
          <a:xfrm>
            <a:off x="290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0" name=""/>
          <p:cNvSpPr/>
          <p:nvPr/>
        </p:nvSpPr>
        <p:spPr>
          <a:xfrm>
            <a:off x="312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1" name=""/>
          <p:cNvSpPr/>
          <p:nvPr/>
        </p:nvSpPr>
        <p:spPr>
          <a:xfrm>
            <a:off x="334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2" name=""/>
          <p:cNvSpPr/>
          <p:nvPr/>
        </p:nvSpPr>
        <p:spPr>
          <a:xfrm>
            <a:off x="355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3" name=""/>
          <p:cNvSpPr/>
          <p:nvPr/>
        </p:nvSpPr>
        <p:spPr>
          <a:xfrm>
            <a:off x="377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4" name=""/>
          <p:cNvSpPr/>
          <p:nvPr/>
        </p:nvSpPr>
        <p:spPr>
          <a:xfrm>
            <a:off x="398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5" name=""/>
          <p:cNvSpPr/>
          <p:nvPr/>
        </p:nvSpPr>
        <p:spPr>
          <a:xfrm>
            <a:off x="420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6" name=""/>
          <p:cNvSpPr/>
          <p:nvPr/>
        </p:nvSpPr>
        <p:spPr>
          <a:xfrm>
            <a:off x="442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7" name=""/>
          <p:cNvSpPr/>
          <p:nvPr/>
        </p:nvSpPr>
        <p:spPr>
          <a:xfrm>
            <a:off x="463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1143360" y="582840"/>
            <a:ext cx="728964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3838"/>
                </a:solidFill>
                <a:latin typeface="Fira Code"/>
                <a:ea typeface="Fira Code"/>
              </a:rPr>
              <a:t>Algorithm Complexity Analysis</a:t>
            </a:r>
            <a:r>
              <a:rPr b="0" lang="en" sz="2800" spc="-1" strike="noStrike">
                <a:solidFill>
                  <a:schemeClr val="accent2"/>
                </a:solidFill>
                <a:latin typeface="Fira Code"/>
                <a:ea typeface="Fira Code"/>
              </a:rPr>
              <a:t>;</a:t>
            </a:r>
            <a:endParaRPr b="0" lang="en-US" sz="28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1464120" y="1063080"/>
            <a:ext cx="69685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Understanding Big-O notation helps you identify CUDA-suitable problems: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- </a:t>
            </a: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O(n²) or O(n³) algorithms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→ Great GPU candidates (matrix operations, all-pairs problems)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- </a:t>
            </a: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O(log n) with dependencies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→ Poor GPU candidates (binary search with sequential dependencies)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- </a:t>
            </a: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O(n) embarrassingly parallel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→ Perfect for GPU (element-wise operations)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Discrete math teaches you to analyze whether a problem has </a:t>
            </a: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inherent parallelism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vs </a:t>
            </a: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forced sequencing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ubTitle"/>
          </p:nvPr>
        </p:nvSpPr>
        <p:spPr>
          <a:xfrm>
            <a:off x="710280" y="4694760"/>
            <a:ext cx="486396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subTitle"/>
          </p:nvPr>
        </p:nvSpPr>
        <p:spPr>
          <a:xfrm>
            <a:off x="-612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 and Discrete Mathematics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 type="subTitle"/>
          </p:nvPr>
        </p:nvSpPr>
        <p:spPr>
          <a:xfrm>
            <a:off x="457200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182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4" name=""/>
          <p:cNvSpPr/>
          <p:nvPr/>
        </p:nvSpPr>
        <p:spPr>
          <a:xfrm>
            <a:off x="204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5" name=""/>
          <p:cNvSpPr/>
          <p:nvPr/>
        </p:nvSpPr>
        <p:spPr>
          <a:xfrm>
            <a:off x="226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6" name=""/>
          <p:cNvSpPr/>
          <p:nvPr/>
        </p:nvSpPr>
        <p:spPr>
          <a:xfrm>
            <a:off x="247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7" name=""/>
          <p:cNvSpPr/>
          <p:nvPr/>
        </p:nvSpPr>
        <p:spPr>
          <a:xfrm>
            <a:off x="269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8" name=""/>
          <p:cNvSpPr/>
          <p:nvPr/>
        </p:nvSpPr>
        <p:spPr>
          <a:xfrm>
            <a:off x="290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9" name=""/>
          <p:cNvSpPr/>
          <p:nvPr/>
        </p:nvSpPr>
        <p:spPr>
          <a:xfrm>
            <a:off x="312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0" name=""/>
          <p:cNvSpPr/>
          <p:nvPr/>
        </p:nvSpPr>
        <p:spPr>
          <a:xfrm>
            <a:off x="334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1" name=""/>
          <p:cNvSpPr/>
          <p:nvPr/>
        </p:nvSpPr>
        <p:spPr>
          <a:xfrm>
            <a:off x="355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2" name=""/>
          <p:cNvSpPr/>
          <p:nvPr/>
        </p:nvSpPr>
        <p:spPr>
          <a:xfrm>
            <a:off x="377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3" name=""/>
          <p:cNvSpPr/>
          <p:nvPr/>
        </p:nvSpPr>
        <p:spPr>
          <a:xfrm>
            <a:off x="398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4" name=""/>
          <p:cNvSpPr/>
          <p:nvPr/>
        </p:nvSpPr>
        <p:spPr>
          <a:xfrm>
            <a:off x="420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5" name=""/>
          <p:cNvSpPr/>
          <p:nvPr/>
        </p:nvSpPr>
        <p:spPr>
          <a:xfrm>
            <a:off x="442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6" name=""/>
          <p:cNvSpPr/>
          <p:nvPr/>
        </p:nvSpPr>
        <p:spPr>
          <a:xfrm>
            <a:off x="463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1143360" y="582840"/>
            <a:ext cx="728964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81d41a"/>
                </a:solidFill>
                <a:latin typeface="Fira Code"/>
                <a:ea typeface="Fira Code"/>
              </a:rPr>
              <a:t>Second Example</a:t>
            </a:r>
            <a:r>
              <a:rPr b="0" lang="en" sz="2800" spc="-1" strike="noStrike">
                <a:solidFill>
                  <a:schemeClr val="accent2"/>
                </a:solidFill>
                <a:latin typeface="Fira Code"/>
                <a:ea typeface="Fira Code"/>
              </a:rPr>
              <a:t>;</a:t>
            </a:r>
            <a:endParaRPr b="0" lang="en-US" sz="28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1464120" y="1063080"/>
            <a:ext cx="69685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Multiply two 2048x2048 matrices (over 8 million operations)                              </a:t>
            </a:r>
            <a:r>
              <a:rPr b="0" lang="en" sz="1000" spc="-1" strike="noStrike" u="sng">
                <a:solidFill>
                  <a:schemeClr val="accent3"/>
                </a:solidFill>
                <a:highlight>
                  <a:srgbClr val="333333"/>
                </a:highlight>
                <a:uFillTx/>
                <a:latin typeface="Fira Code"/>
                <a:ea typeface="Fira Code"/>
                <a:hlinkClick r:id="rId1"/>
              </a:rPr>
              <a:t>Example Code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CPU approach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- Triple nested loop executing sequentially (O(n</a:t>
            </a:r>
            <a:r>
              <a:rPr b="0" lang="en" sz="1000" spc="-1" strike="noStrike" baseline="33000">
                <a:solidFill>
                  <a:schemeClr val="accent3"/>
                </a:solidFill>
                <a:latin typeface="Fira Code"/>
                <a:ea typeface="Fira Code"/>
              </a:rPr>
              <a:t>3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))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- One element computed at a 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- Takes seconds to complete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GPU approach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- Thousands of threads running in parallel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- Each thread computes one output element simultaneously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- Uses 2D grid and block organization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- Takes milliseconds to complete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Running on CPU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...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CPU Time: 95.640 seconds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Running on GPU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...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Grid: 128 x 128 blocks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Block: 16 x 16 threads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Total threads: 4194304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GPU Time: 0.075 seconds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Speedup: 1275.58x faster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ubTitle"/>
          </p:nvPr>
        </p:nvSpPr>
        <p:spPr>
          <a:xfrm>
            <a:off x="710280" y="4694760"/>
            <a:ext cx="486396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 type="subTitle"/>
          </p:nvPr>
        </p:nvSpPr>
        <p:spPr>
          <a:xfrm>
            <a:off x="-612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 and Discrete Mathematics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 type="subTitle"/>
          </p:nvPr>
        </p:nvSpPr>
        <p:spPr>
          <a:xfrm>
            <a:off x="457200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182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3" name=""/>
          <p:cNvSpPr/>
          <p:nvPr/>
        </p:nvSpPr>
        <p:spPr>
          <a:xfrm>
            <a:off x="204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4" name=""/>
          <p:cNvSpPr/>
          <p:nvPr/>
        </p:nvSpPr>
        <p:spPr>
          <a:xfrm>
            <a:off x="226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5" name=""/>
          <p:cNvSpPr/>
          <p:nvPr/>
        </p:nvSpPr>
        <p:spPr>
          <a:xfrm>
            <a:off x="247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6" name=""/>
          <p:cNvSpPr/>
          <p:nvPr/>
        </p:nvSpPr>
        <p:spPr>
          <a:xfrm>
            <a:off x="269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7" name=""/>
          <p:cNvSpPr/>
          <p:nvPr/>
        </p:nvSpPr>
        <p:spPr>
          <a:xfrm>
            <a:off x="290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8" name=""/>
          <p:cNvSpPr/>
          <p:nvPr/>
        </p:nvSpPr>
        <p:spPr>
          <a:xfrm>
            <a:off x="312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9" name=""/>
          <p:cNvSpPr/>
          <p:nvPr/>
        </p:nvSpPr>
        <p:spPr>
          <a:xfrm>
            <a:off x="334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0" name=""/>
          <p:cNvSpPr/>
          <p:nvPr/>
        </p:nvSpPr>
        <p:spPr>
          <a:xfrm>
            <a:off x="355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1" name=""/>
          <p:cNvSpPr/>
          <p:nvPr/>
        </p:nvSpPr>
        <p:spPr>
          <a:xfrm>
            <a:off x="377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2" name=""/>
          <p:cNvSpPr/>
          <p:nvPr/>
        </p:nvSpPr>
        <p:spPr>
          <a:xfrm>
            <a:off x="398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3" name=""/>
          <p:cNvSpPr/>
          <p:nvPr/>
        </p:nvSpPr>
        <p:spPr>
          <a:xfrm>
            <a:off x="420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4" name=""/>
          <p:cNvSpPr/>
          <p:nvPr/>
        </p:nvSpPr>
        <p:spPr>
          <a:xfrm>
            <a:off x="442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5" name=""/>
          <p:cNvSpPr/>
          <p:nvPr/>
        </p:nvSpPr>
        <p:spPr>
          <a:xfrm>
            <a:off x="463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143360" y="582840"/>
            <a:ext cx="728964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lt1"/>
                </a:solidFill>
                <a:latin typeface="Fira Code"/>
                <a:ea typeface="Fira Code"/>
              </a:rPr>
              <a:t>Boolean Algebra and Bit Operations</a:t>
            </a:r>
            <a:r>
              <a:rPr b="0" lang="en" sz="2800" spc="-1" strike="noStrike">
                <a:solidFill>
                  <a:schemeClr val="accent2"/>
                </a:solidFill>
                <a:latin typeface="Fira Code"/>
                <a:ea typeface="Fira Code"/>
              </a:rPr>
              <a:t>;</a:t>
            </a:r>
            <a:endParaRPr b="0" lang="en-US" sz="28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1464120" y="1063080"/>
            <a:ext cx="69685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Bitwise parallel operations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- GPUs can do billions of bit operations simultaneously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Boolean circuits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- Simulating logic gates in parallel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Bit manipulation algorithms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- Population count, finding set bits, etc.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ubTitle"/>
          </p:nvPr>
        </p:nvSpPr>
        <p:spPr>
          <a:xfrm>
            <a:off x="710280" y="4694760"/>
            <a:ext cx="486396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subTitle"/>
          </p:nvPr>
        </p:nvSpPr>
        <p:spPr>
          <a:xfrm>
            <a:off x="-612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 and Discrete Mathematics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 type="subTitle"/>
          </p:nvPr>
        </p:nvSpPr>
        <p:spPr>
          <a:xfrm>
            <a:off x="457200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182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2" name=""/>
          <p:cNvSpPr/>
          <p:nvPr/>
        </p:nvSpPr>
        <p:spPr>
          <a:xfrm>
            <a:off x="204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3" name=""/>
          <p:cNvSpPr/>
          <p:nvPr/>
        </p:nvSpPr>
        <p:spPr>
          <a:xfrm>
            <a:off x="226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4" name=""/>
          <p:cNvSpPr/>
          <p:nvPr/>
        </p:nvSpPr>
        <p:spPr>
          <a:xfrm>
            <a:off x="247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5" name=""/>
          <p:cNvSpPr/>
          <p:nvPr/>
        </p:nvSpPr>
        <p:spPr>
          <a:xfrm>
            <a:off x="269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6" name=""/>
          <p:cNvSpPr/>
          <p:nvPr/>
        </p:nvSpPr>
        <p:spPr>
          <a:xfrm>
            <a:off x="290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7" name=""/>
          <p:cNvSpPr/>
          <p:nvPr/>
        </p:nvSpPr>
        <p:spPr>
          <a:xfrm>
            <a:off x="312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8" name=""/>
          <p:cNvSpPr/>
          <p:nvPr/>
        </p:nvSpPr>
        <p:spPr>
          <a:xfrm>
            <a:off x="334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9" name=""/>
          <p:cNvSpPr/>
          <p:nvPr/>
        </p:nvSpPr>
        <p:spPr>
          <a:xfrm>
            <a:off x="355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40" name=""/>
          <p:cNvSpPr/>
          <p:nvPr/>
        </p:nvSpPr>
        <p:spPr>
          <a:xfrm>
            <a:off x="377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41" name=""/>
          <p:cNvSpPr/>
          <p:nvPr/>
        </p:nvSpPr>
        <p:spPr>
          <a:xfrm>
            <a:off x="398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42" name=""/>
          <p:cNvSpPr/>
          <p:nvPr/>
        </p:nvSpPr>
        <p:spPr>
          <a:xfrm>
            <a:off x="420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43" name=""/>
          <p:cNvSpPr/>
          <p:nvPr/>
        </p:nvSpPr>
        <p:spPr>
          <a:xfrm>
            <a:off x="442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44" name=""/>
          <p:cNvSpPr/>
          <p:nvPr/>
        </p:nvSpPr>
        <p:spPr>
          <a:xfrm>
            <a:off x="463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1143360" y="582840"/>
            <a:ext cx="728964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81d41a"/>
                </a:solidFill>
                <a:latin typeface="Fira Code"/>
                <a:ea typeface="Fira Code"/>
              </a:rPr>
              <a:t>Number Theory and Cryptography;</a:t>
            </a:r>
            <a:endParaRPr b="0" lang="en-US" sz="28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1464120" y="1063080"/>
            <a:ext cx="69685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Prime number generation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- Parallel sieving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Modular arithmetic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- RSA encryption operations on GPUs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Hashing algorithms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- Parallel hash computations (blockchain mining)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Random number generation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- Parallel RNG for simulations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ubTitle"/>
          </p:nvPr>
        </p:nvSpPr>
        <p:spPr>
          <a:xfrm>
            <a:off x="710280" y="4694760"/>
            <a:ext cx="486396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subTitle"/>
          </p:nvPr>
        </p:nvSpPr>
        <p:spPr>
          <a:xfrm>
            <a:off x="-612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 and Discrete Mathematics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PlaceHolder 5"/>
          <p:cNvSpPr>
            <a:spLocks noGrp="1"/>
          </p:cNvSpPr>
          <p:nvPr>
            <p:ph type="subTitle"/>
          </p:nvPr>
        </p:nvSpPr>
        <p:spPr>
          <a:xfrm>
            <a:off x="457200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182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1" name=""/>
          <p:cNvSpPr/>
          <p:nvPr/>
        </p:nvSpPr>
        <p:spPr>
          <a:xfrm>
            <a:off x="204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2" name=""/>
          <p:cNvSpPr/>
          <p:nvPr/>
        </p:nvSpPr>
        <p:spPr>
          <a:xfrm>
            <a:off x="226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3" name=""/>
          <p:cNvSpPr/>
          <p:nvPr/>
        </p:nvSpPr>
        <p:spPr>
          <a:xfrm>
            <a:off x="247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4" name=""/>
          <p:cNvSpPr/>
          <p:nvPr/>
        </p:nvSpPr>
        <p:spPr>
          <a:xfrm>
            <a:off x="269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5" name=""/>
          <p:cNvSpPr/>
          <p:nvPr/>
        </p:nvSpPr>
        <p:spPr>
          <a:xfrm>
            <a:off x="290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6" name=""/>
          <p:cNvSpPr/>
          <p:nvPr/>
        </p:nvSpPr>
        <p:spPr>
          <a:xfrm>
            <a:off x="312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7" name=""/>
          <p:cNvSpPr/>
          <p:nvPr/>
        </p:nvSpPr>
        <p:spPr>
          <a:xfrm>
            <a:off x="334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8" name=""/>
          <p:cNvSpPr/>
          <p:nvPr/>
        </p:nvSpPr>
        <p:spPr>
          <a:xfrm>
            <a:off x="355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9" name=""/>
          <p:cNvSpPr/>
          <p:nvPr/>
        </p:nvSpPr>
        <p:spPr>
          <a:xfrm>
            <a:off x="377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0" name=""/>
          <p:cNvSpPr/>
          <p:nvPr/>
        </p:nvSpPr>
        <p:spPr>
          <a:xfrm>
            <a:off x="398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1" name=""/>
          <p:cNvSpPr/>
          <p:nvPr/>
        </p:nvSpPr>
        <p:spPr>
          <a:xfrm>
            <a:off x="420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2" name=""/>
          <p:cNvSpPr/>
          <p:nvPr/>
        </p:nvSpPr>
        <p:spPr>
          <a:xfrm>
            <a:off x="442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3" name=""/>
          <p:cNvSpPr/>
          <p:nvPr/>
        </p:nvSpPr>
        <p:spPr>
          <a:xfrm>
            <a:off x="463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1143360" y="582840"/>
            <a:ext cx="728964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lt1"/>
                </a:solidFill>
                <a:latin typeface="Fira Code"/>
                <a:ea typeface="Fira Code"/>
              </a:rPr>
              <a:t>Probability and Monte Carlo Methods</a:t>
            </a:r>
            <a:r>
              <a:rPr b="0" lang="en" sz="2800" spc="-1" strike="noStrike">
                <a:solidFill>
                  <a:schemeClr val="accent2"/>
                </a:solidFill>
                <a:latin typeface="Fira Code"/>
                <a:ea typeface="Fira Code"/>
              </a:rPr>
              <a:t>;</a:t>
            </a:r>
            <a:endParaRPr b="0" lang="en-US" sz="28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1464120" y="1063080"/>
            <a:ext cx="69685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Simulations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- Run millions of trials in parallel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Random walks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- Parallel exploration of state spaces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Probabilistic algorithms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- Each trial independent and parallel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ubTitle"/>
          </p:nvPr>
        </p:nvSpPr>
        <p:spPr>
          <a:xfrm>
            <a:off x="710280" y="4694760"/>
            <a:ext cx="486396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 type="subTitle"/>
          </p:nvPr>
        </p:nvSpPr>
        <p:spPr>
          <a:xfrm>
            <a:off x="-612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 and Discrete Mathematics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PlaceHolder 5"/>
          <p:cNvSpPr>
            <a:spLocks noGrp="1"/>
          </p:cNvSpPr>
          <p:nvPr>
            <p:ph type="subTitle"/>
          </p:nvPr>
        </p:nvSpPr>
        <p:spPr>
          <a:xfrm>
            <a:off x="457200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182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0" name=""/>
          <p:cNvSpPr/>
          <p:nvPr/>
        </p:nvSpPr>
        <p:spPr>
          <a:xfrm>
            <a:off x="204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1" name=""/>
          <p:cNvSpPr/>
          <p:nvPr/>
        </p:nvSpPr>
        <p:spPr>
          <a:xfrm>
            <a:off x="226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2" name=""/>
          <p:cNvSpPr/>
          <p:nvPr/>
        </p:nvSpPr>
        <p:spPr>
          <a:xfrm>
            <a:off x="247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3" name=""/>
          <p:cNvSpPr/>
          <p:nvPr/>
        </p:nvSpPr>
        <p:spPr>
          <a:xfrm>
            <a:off x="269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4" name=""/>
          <p:cNvSpPr/>
          <p:nvPr/>
        </p:nvSpPr>
        <p:spPr>
          <a:xfrm>
            <a:off x="290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5" name=""/>
          <p:cNvSpPr/>
          <p:nvPr/>
        </p:nvSpPr>
        <p:spPr>
          <a:xfrm>
            <a:off x="312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6" name=""/>
          <p:cNvSpPr/>
          <p:nvPr/>
        </p:nvSpPr>
        <p:spPr>
          <a:xfrm>
            <a:off x="334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7" name=""/>
          <p:cNvSpPr/>
          <p:nvPr/>
        </p:nvSpPr>
        <p:spPr>
          <a:xfrm>
            <a:off x="355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8" name=""/>
          <p:cNvSpPr/>
          <p:nvPr/>
        </p:nvSpPr>
        <p:spPr>
          <a:xfrm>
            <a:off x="377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9" name=""/>
          <p:cNvSpPr/>
          <p:nvPr/>
        </p:nvSpPr>
        <p:spPr>
          <a:xfrm>
            <a:off x="398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80" name=""/>
          <p:cNvSpPr/>
          <p:nvPr/>
        </p:nvSpPr>
        <p:spPr>
          <a:xfrm>
            <a:off x="420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81" name=""/>
          <p:cNvSpPr/>
          <p:nvPr/>
        </p:nvSpPr>
        <p:spPr>
          <a:xfrm>
            <a:off x="442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82" name=""/>
          <p:cNvSpPr/>
          <p:nvPr/>
        </p:nvSpPr>
        <p:spPr>
          <a:xfrm>
            <a:off x="463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1143360" y="582840"/>
            <a:ext cx="728964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81d41a"/>
                </a:solidFill>
                <a:latin typeface="Fira Code"/>
                <a:ea typeface="Fira Code"/>
              </a:rPr>
              <a:t>Recurrence Relations;</a:t>
            </a:r>
            <a:endParaRPr b="0" lang="en-US" sz="28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1464120" y="1063080"/>
            <a:ext cx="69685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Understanding which recurrences parallelize: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Independent recurrences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→ Good for GPU (Fibonacci across many starting points)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Dependent recurrences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→ Bad for GPU (computing single Fibonacci sequence)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ubTitle"/>
          </p:nvPr>
        </p:nvSpPr>
        <p:spPr>
          <a:xfrm>
            <a:off x="710280" y="4694760"/>
            <a:ext cx="486396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subTitle"/>
          </p:nvPr>
        </p:nvSpPr>
        <p:spPr>
          <a:xfrm>
            <a:off x="-612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 and Discrete Mathematics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PlaceHolder 5"/>
          <p:cNvSpPr>
            <a:spLocks noGrp="1"/>
          </p:cNvSpPr>
          <p:nvPr>
            <p:ph type="subTitle"/>
          </p:nvPr>
        </p:nvSpPr>
        <p:spPr>
          <a:xfrm>
            <a:off x="457200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182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89" name=""/>
          <p:cNvSpPr/>
          <p:nvPr/>
        </p:nvSpPr>
        <p:spPr>
          <a:xfrm>
            <a:off x="204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0" name=""/>
          <p:cNvSpPr/>
          <p:nvPr/>
        </p:nvSpPr>
        <p:spPr>
          <a:xfrm>
            <a:off x="226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1" name=""/>
          <p:cNvSpPr/>
          <p:nvPr/>
        </p:nvSpPr>
        <p:spPr>
          <a:xfrm>
            <a:off x="247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2" name=""/>
          <p:cNvSpPr/>
          <p:nvPr/>
        </p:nvSpPr>
        <p:spPr>
          <a:xfrm>
            <a:off x="269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3" name=""/>
          <p:cNvSpPr/>
          <p:nvPr/>
        </p:nvSpPr>
        <p:spPr>
          <a:xfrm>
            <a:off x="290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4" name=""/>
          <p:cNvSpPr/>
          <p:nvPr/>
        </p:nvSpPr>
        <p:spPr>
          <a:xfrm>
            <a:off x="312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5" name=""/>
          <p:cNvSpPr/>
          <p:nvPr/>
        </p:nvSpPr>
        <p:spPr>
          <a:xfrm>
            <a:off x="334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6" name=""/>
          <p:cNvSpPr/>
          <p:nvPr/>
        </p:nvSpPr>
        <p:spPr>
          <a:xfrm>
            <a:off x="355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7" name=""/>
          <p:cNvSpPr/>
          <p:nvPr/>
        </p:nvSpPr>
        <p:spPr>
          <a:xfrm>
            <a:off x="377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8" name=""/>
          <p:cNvSpPr/>
          <p:nvPr/>
        </p:nvSpPr>
        <p:spPr>
          <a:xfrm>
            <a:off x="398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9" name=""/>
          <p:cNvSpPr/>
          <p:nvPr/>
        </p:nvSpPr>
        <p:spPr>
          <a:xfrm>
            <a:off x="420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0" name=""/>
          <p:cNvSpPr/>
          <p:nvPr/>
        </p:nvSpPr>
        <p:spPr>
          <a:xfrm>
            <a:off x="442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1" name=""/>
          <p:cNvSpPr/>
          <p:nvPr/>
        </p:nvSpPr>
        <p:spPr>
          <a:xfrm>
            <a:off x="463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1143360" y="582840"/>
            <a:ext cx="728964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lt1"/>
                </a:solidFill>
                <a:latin typeface="Fira Code"/>
                <a:ea typeface="Fira Code"/>
              </a:rPr>
              <a:t>Set Operations</a:t>
            </a:r>
            <a:r>
              <a:rPr b="0" lang="en" sz="2800" spc="-1" strike="noStrike">
                <a:solidFill>
                  <a:schemeClr val="accent2"/>
                </a:solidFill>
                <a:latin typeface="Fira Code"/>
                <a:ea typeface="Fira Code"/>
              </a:rPr>
              <a:t>;</a:t>
            </a:r>
            <a:endParaRPr b="0" lang="en-US" sz="28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1464120" y="1063080"/>
            <a:ext cx="69685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Working with large sets on GPUs: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Union, intersection, difference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- Parallel set operations on millions of elements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Cardinality counting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- Parallel reduction operations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Set membership testing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- Bloom filters on GPU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ubTitle"/>
          </p:nvPr>
        </p:nvSpPr>
        <p:spPr>
          <a:xfrm>
            <a:off x="710280" y="4694760"/>
            <a:ext cx="486396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PlaceHolder 4"/>
          <p:cNvSpPr>
            <a:spLocks noGrp="1"/>
          </p:cNvSpPr>
          <p:nvPr>
            <p:ph type="subTitle"/>
          </p:nvPr>
        </p:nvSpPr>
        <p:spPr>
          <a:xfrm>
            <a:off x="-612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 and Discrete Mathematics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PlaceHolder 5"/>
          <p:cNvSpPr>
            <a:spLocks noGrp="1"/>
          </p:cNvSpPr>
          <p:nvPr>
            <p:ph type="subTitle"/>
          </p:nvPr>
        </p:nvSpPr>
        <p:spPr>
          <a:xfrm>
            <a:off x="457200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182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8" name=""/>
          <p:cNvSpPr/>
          <p:nvPr/>
        </p:nvSpPr>
        <p:spPr>
          <a:xfrm>
            <a:off x="204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9" name=""/>
          <p:cNvSpPr/>
          <p:nvPr/>
        </p:nvSpPr>
        <p:spPr>
          <a:xfrm>
            <a:off x="226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0" name=""/>
          <p:cNvSpPr/>
          <p:nvPr/>
        </p:nvSpPr>
        <p:spPr>
          <a:xfrm>
            <a:off x="247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1" name=""/>
          <p:cNvSpPr/>
          <p:nvPr/>
        </p:nvSpPr>
        <p:spPr>
          <a:xfrm>
            <a:off x="269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2" name=""/>
          <p:cNvSpPr/>
          <p:nvPr/>
        </p:nvSpPr>
        <p:spPr>
          <a:xfrm>
            <a:off x="290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3" name=""/>
          <p:cNvSpPr/>
          <p:nvPr/>
        </p:nvSpPr>
        <p:spPr>
          <a:xfrm>
            <a:off x="312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4" name=""/>
          <p:cNvSpPr/>
          <p:nvPr/>
        </p:nvSpPr>
        <p:spPr>
          <a:xfrm>
            <a:off x="334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5" name=""/>
          <p:cNvSpPr/>
          <p:nvPr/>
        </p:nvSpPr>
        <p:spPr>
          <a:xfrm>
            <a:off x="355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6" name=""/>
          <p:cNvSpPr/>
          <p:nvPr/>
        </p:nvSpPr>
        <p:spPr>
          <a:xfrm>
            <a:off x="377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7" name=""/>
          <p:cNvSpPr/>
          <p:nvPr/>
        </p:nvSpPr>
        <p:spPr>
          <a:xfrm>
            <a:off x="398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8" name=""/>
          <p:cNvSpPr/>
          <p:nvPr/>
        </p:nvSpPr>
        <p:spPr>
          <a:xfrm>
            <a:off x="420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9" name=""/>
          <p:cNvSpPr/>
          <p:nvPr/>
        </p:nvSpPr>
        <p:spPr>
          <a:xfrm>
            <a:off x="442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20" name=""/>
          <p:cNvSpPr/>
          <p:nvPr/>
        </p:nvSpPr>
        <p:spPr>
          <a:xfrm>
            <a:off x="463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1143360" y="582840"/>
            <a:ext cx="728964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81d41a"/>
                </a:solidFill>
                <a:latin typeface="Fira Code"/>
                <a:ea typeface="Fira Code"/>
              </a:rPr>
              <a:t>Real-World Example;</a:t>
            </a:r>
            <a:endParaRPr b="0" lang="en-US" sz="28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1464120" y="1063080"/>
            <a:ext cx="69685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Consider shortest path in a graph with 1 million nodes: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Discrete Math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: Teaches you Dijkstra's algorithm, graph representation, complexity O(V² or E log V)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CUDA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: Lets you explore thousands of nodes simultaneously instead of one at a 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The combination makes previously intractable problems (huge graphs) solvable in seconds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ubTitle"/>
          </p:nvPr>
        </p:nvSpPr>
        <p:spPr>
          <a:xfrm>
            <a:off x="710280" y="4694760"/>
            <a:ext cx="486396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 type="subTitle"/>
          </p:nvPr>
        </p:nvSpPr>
        <p:spPr>
          <a:xfrm>
            <a:off x="-612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 and Discrete Mathematics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 type="subTitle"/>
          </p:nvPr>
        </p:nvSpPr>
        <p:spPr>
          <a:xfrm>
            <a:off x="457200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182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27" name=""/>
          <p:cNvSpPr/>
          <p:nvPr/>
        </p:nvSpPr>
        <p:spPr>
          <a:xfrm>
            <a:off x="204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28" name=""/>
          <p:cNvSpPr/>
          <p:nvPr/>
        </p:nvSpPr>
        <p:spPr>
          <a:xfrm>
            <a:off x="226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29" name=""/>
          <p:cNvSpPr/>
          <p:nvPr/>
        </p:nvSpPr>
        <p:spPr>
          <a:xfrm>
            <a:off x="247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0" name=""/>
          <p:cNvSpPr/>
          <p:nvPr/>
        </p:nvSpPr>
        <p:spPr>
          <a:xfrm>
            <a:off x="269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1" name=""/>
          <p:cNvSpPr/>
          <p:nvPr/>
        </p:nvSpPr>
        <p:spPr>
          <a:xfrm>
            <a:off x="290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2" name=""/>
          <p:cNvSpPr/>
          <p:nvPr/>
        </p:nvSpPr>
        <p:spPr>
          <a:xfrm>
            <a:off x="312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3" name=""/>
          <p:cNvSpPr/>
          <p:nvPr/>
        </p:nvSpPr>
        <p:spPr>
          <a:xfrm>
            <a:off x="334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4" name=""/>
          <p:cNvSpPr/>
          <p:nvPr/>
        </p:nvSpPr>
        <p:spPr>
          <a:xfrm>
            <a:off x="355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5" name=""/>
          <p:cNvSpPr/>
          <p:nvPr/>
        </p:nvSpPr>
        <p:spPr>
          <a:xfrm>
            <a:off x="377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6" name=""/>
          <p:cNvSpPr/>
          <p:nvPr/>
        </p:nvSpPr>
        <p:spPr>
          <a:xfrm>
            <a:off x="398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7" name=""/>
          <p:cNvSpPr/>
          <p:nvPr/>
        </p:nvSpPr>
        <p:spPr>
          <a:xfrm>
            <a:off x="420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8" name=""/>
          <p:cNvSpPr/>
          <p:nvPr/>
        </p:nvSpPr>
        <p:spPr>
          <a:xfrm>
            <a:off x="442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9" name=""/>
          <p:cNvSpPr/>
          <p:nvPr/>
        </p:nvSpPr>
        <p:spPr>
          <a:xfrm>
            <a:off x="463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1143360" y="582840"/>
            <a:ext cx="728964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lt1"/>
                </a:solidFill>
                <a:latin typeface="Fira Code"/>
                <a:ea typeface="Fira Code"/>
              </a:rPr>
              <a:t>Julia Set Example</a:t>
            </a:r>
            <a:r>
              <a:rPr b="0" lang="en" sz="2800" spc="-1" strike="noStrike">
                <a:solidFill>
                  <a:schemeClr val="accent2"/>
                </a:solidFill>
                <a:latin typeface="Fira Code"/>
                <a:ea typeface="Fira Code"/>
              </a:rPr>
              <a:t>;</a:t>
            </a:r>
            <a:endParaRPr b="0" lang="en-US" sz="28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1464120" y="1063080"/>
            <a:ext cx="69685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JULIA SET: CPU vs GPU Performance                            </a:t>
            </a:r>
            <a:r>
              <a:rPr b="0" lang="en" sz="1000" spc="-1" strike="noStrike" u="sng">
                <a:solidFill>
                  <a:schemeClr val="accent3"/>
                </a:solidFill>
                <a:highlight>
                  <a:srgbClr val="333333"/>
                </a:highlight>
                <a:uFillTx/>
                <a:latin typeface="Fira Code"/>
                <a:ea typeface="Fira Code"/>
                <a:hlinkClick r:id="rId1"/>
              </a:rPr>
              <a:t>Example Code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Resolution: 1920x1080 (2 megapixels) 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CPU Rendering: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------------------------------------------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Average CPU time per frame: 1.135 seconds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CPU FPS: 0.88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GPU Rendering: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------------------------------------------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Grid: 120x68 blocks, Block: 16x16 threads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Total GPU threads: 2088960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Average GPU time per frame: 0.016 seconds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GPU FPS: 61.75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PERFORMANCE SUMMARY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===========================================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Average CPU time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: 1.135 seconds (0.88 FPS)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Average GPU time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: 0.016 seconds (61.75 FPS)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Speedup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: 70x faster on GPU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ubTitle"/>
          </p:nvPr>
        </p:nvSpPr>
        <p:spPr>
          <a:xfrm>
            <a:off x="710280" y="4694760"/>
            <a:ext cx="486396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 type="subTitle"/>
          </p:nvPr>
        </p:nvSpPr>
        <p:spPr>
          <a:xfrm>
            <a:off x="-612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 and Discrete Mathematics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PlaceHolder 5"/>
          <p:cNvSpPr>
            <a:spLocks noGrp="1"/>
          </p:cNvSpPr>
          <p:nvPr>
            <p:ph type="subTitle"/>
          </p:nvPr>
        </p:nvSpPr>
        <p:spPr>
          <a:xfrm>
            <a:off x="457200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182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46" name=""/>
          <p:cNvSpPr/>
          <p:nvPr/>
        </p:nvSpPr>
        <p:spPr>
          <a:xfrm>
            <a:off x="204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47" name=""/>
          <p:cNvSpPr/>
          <p:nvPr/>
        </p:nvSpPr>
        <p:spPr>
          <a:xfrm>
            <a:off x="226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48" name=""/>
          <p:cNvSpPr/>
          <p:nvPr/>
        </p:nvSpPr>
        <p:spPr>
          <a:xfrm>
            <a:off x="247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49" name=""/>
          <p:cNvSpPr/>
          <p:nvPr/>
        </p:nvSpPr>
        <p:spPr>
          <a:xfrm>
            <a:off x="269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0" name=""/>
          <p:cNvSpPr/>
          <p:nvPr/>
        </p:nvSpPr>
        <p:spPr>
          <a:xfrm>
            <a:off x="290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1" name=""/>
          <p:cNvSpPr/>
          <p:nvPr/>
        </p:nvSpPr>
        <p:spPr>
          <a:xfrm>
            <a:off x="312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2" name=""/>
          <p:cNvSpPr/>
          <p:nvPr/>
        </p:nvSpPr>
        <p:spPr>
          <a:xfrm>
            <a:off x="334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3" name=""/>
          <p:cNvSpPr/>
          <p:nvPr/>
        </p:nvSpPr>
        <p:spPr>
          <a:xfrm>
            <a:off x="355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4" name=""/>
          <p:cNvSpPr/>
          <p:nvPr/>
        </p:nvSpPr>
        <p:spPr>
          <a:xfrm>
            <a:off x="377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5" name=""/>
          <p:cNvSpPr/>
          <p:nvPr/>
        </p:nvSpPr>
        <p:spPr>
          <a:xfrm>
            <a:off x="398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6" name=""/>
          <p:cNvSpPr/>
          <p:nvPr/>
        </p:nvSpPr>
        <p:spPr>
          <a:xfrm>
            <a:off x="420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7" name=""/>
          <p:cNvSpPr/>
          <p:nvPr/>
        </p:nvSpPr>
        <p:spPr>
          <a:xfrm>
            <a:off x="442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8" name=""/>
          <p:cNvSpPr/>
          <p:nvPr/>
        </p:nvSpPr>
        <p:spPr>
          <a:xfrm>
            <a:off x="463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1143360" y="582840"/>
            <a:ext cx="728964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81d41a"/>
                </a:solidFill>
                <a:latin typeface="Fira Code"/>
                <a:ea typeface="Fira Code"/>
              </a:rPr>
              <a:t>The Bottom Line;</a:t>
            </a:r>
            <a:endParaRPr b="0" lang="en-US" sz="2800" spc="-1" strike="noStrike">
              <a:solidFill>
                <a:srgbClr val="81d41a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1464120" y="1063080"/>
            <a:ext cx="69685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Discrete Math helps you recognize which problems are parallelizable and design parallel algorithms.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CUDA gives you the tool to execute those parallel algorithms at massive scale.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They're complementary: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Discrete Math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→ Understand the problem structure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CUDA 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→ Exploit that structure with parallel hardware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For CS students, discrete math provides the theoretical foundation to understand </a:t>
            </a: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why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certain problems benefit from GPU acceleration and </a:t>
            </a:r>
            <a:r>
              <a:rPr b="1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how</a:t>
            </a:r>
            <a:r>
              <a:rPr b="0" lang="en" sz="1000" spc="-1" strike="noStrike">
                <a:solidFill>
                  <a:schemeClr val="accent3"/>
                </a:solidFill>
                <a:latin typeface="Fira Code"/>
                <a:ea typeface="Fira Code"/>
              </a:rPr>
              <a:t> to design algorithms that leverage thousands of parallel threads effectively.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ubTitle"/>
          </p:nvPr>
        </p:nvSpPr>
        <p:spPr>
          <a:xfrm>
            <a:off x="710280" y="4694760"/>
            <a:ext cx="486396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PlaceHolder 4"/>
          <p:cNvSpPr>
            <a:spLocks noGrp="1"/>
          </p:cNvSpPr>
          <p:nvPr>
            <p:ph type="subTitle"/>
          </p:nvPr>
        </p:nvSpPr>
        <p:spPr>
          <a:xfrm>
            <a:off x="-612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CUDA and Discrete Mathematics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PlaceHolder 5"/>
          <p:cNvSpPr>
            <a:spLocks noGrp="1"/>
          </p:cNvSpPr>
          <p:nvPr>
            <p:ph type="subTitle"/>
          </p:nvPr>
        </p:nvSpPr>
        <p:spPr>
          <a:xfrm>
            <a:off x="4572000" y="91440"/>
            <a:ext cx="457092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3"/>
                </a:solidFill>
                <a:latin typeface="Fira Code"/>
                <a:ea typeface="Fira Code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182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65" name=""/>
          <p:cNvSpPr/>
          <p:nvPr/>
        </p:nvSpPr>
        <p:spPr>
          <a:xfrm>
            <a:off x="204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66" name=""/>
          <p:cNvSpPr/>
          <p:nvPr/>
        </p:nvSpPr>
        <p:spPr>
          <a:xfrm>
            <a:off x="226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67" name=""/>
          <p:cNvSpPr/>
          <p:nvPr/>
        </p:nvSpPr>
        <p:spPr>
          <a:xfrm>
            <a:off x="247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68" name=""/>
          <p:cNvSpPr/>
          <p:nvPr/>
        </p:nvSpPr>
        <p:spPr>
          <a:xfrm>
            <a:off x="269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69" name=""/>
          <p:cNvSpPr/>
          <p:nvPr/>
        </p:nvSpPr>
        <p:spPr>
          <a:xfrm>
            <a:off x="290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0" name=""/>
          <p:cNvSpPr/>
          <p:nvPr/>
        </p:nvSpPr>
        <p:spPr>
          <a:xfrm>
            <a:off x="312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1" name=""/>
          <p:cNvSpPr/>
          <p:nvPr/>
        </p:nvSpPr>
        <p:spPr>
          <a:xfrm>
            <a:off x="334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2" name=""/>
          <p:cNvSpPr/>
          <p:nvPr/>
        </p:nvSpPr>
        <p:spPr>
          <a:xfrm>
            <a:off x="355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3" name=""/>
          <p:cNvSpPr/>
          <p:nvPr/>
        </p:nvSpPr>
        <p:spPr>
          <a:xfrm>
            <a:off x="3772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4" name=""/>
          <p:cNvSpPr/>
          <p:nvPr/>
        </p:nvSpPr>
        <p:spPr>
          <a:xfrm>
            <a:off x="3988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5" name=""/>
          <p:cNvSpPr/>
          <p:nvPr/>
        </p:nvSpPr>
        <p:spPr>
          <a:xfrm>
            <a:off x="4204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6" name=""/>
          <p:cNvSpPr/>
          <p:nvPr/>
        </p:nvSpPr>
        <p:spPr>
          <a:xfrm>
            <a:off x="4420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7" name=""/>
          <p:cNvSpPr/>
          <p:nvPr/>
        </p:nvSpPr>
        <p:spPr>
          <a:xfrm>
            <a:off x="4636800" y="4800600"/>
            <a:ext cx="228240" cy="250560"/>
          </a:xfrm>
          <a:custGeom>
            <a:avLst/>
            <a:gdLst>
              <a:gd name="textAreaLeft" fmla="*/ 0 w 228240"/>
              <a:gd name="textAreaRight" fmla="*/ 228960 w 228240"/>
              <a:gd name="textAreaTop" fmla="*/ 0 h 250560"/>
              <a:gd name="textAreaBottom" fmla="*/ 251280 h 250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3333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Application>LibreOffice/7.4.3.2$Windows_X86_64 LibreOffice_project/1048a8393ae2eeec98dff31b5c133c5f1d08b890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2025-11-11T14:07:15Z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